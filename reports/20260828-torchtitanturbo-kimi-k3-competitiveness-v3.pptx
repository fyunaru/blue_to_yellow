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8be18d7b634d74" /><Relationship Type="http://schemas.openxmlformats.org/officeDocument/2006/relationships/extended-properties" Target="/docProps/app.xml" Id="R3e2ddc031bad4a66" /><Relationship Type="http://schemas.openxmlformats.org/officeDocument/2006/relationships/officeDocument" Target="/ppt/presentation.xml" Id="Re0b942f215ee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9202e00e734722"/>
  </p:sldMasterIdLst>
  <p:notesMasterIdLst>
    <p:notesMasterId xmlns:r="http://schemas.openxmlformats.org/officeDocument/2006/relationships" r:id="R510ecbe9683b4133"/>
  </p:notesMasterIdLst>
  <p:sldIdLst>
    <p:sldId xmlns:r="http://schemas.openxmlformats.org/officeDocument/2006/relationships" id="256" r:id="Rd53a9339aa024b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16ba4d28c84c86" /><Relationship Type="http://schemas.openxmlformats.org/officeDocument/2006/relationships/slideMaster" Target="/ppt/slideMasters/slideMaster1.xml" Id="R139202e00e734722" /><Relationship Type="http://schemas.openxmlformats.org/officeDocument/2006/relationships/notesMaster" Target="/ppt/notesMasters/notesMaster1.xml" Id="R510ecbe9683b4133" /><Relationship Type="http://schemas.openxmlformats.org/officeDocument/2006/relationships/presProps" Target="/ppt/presProps.xml" Id="Rbe5da854ca8a4615" /><Relationship Type="http://schemas.openxmlformats.org/officeDocument/2006/relationships/tableStyles" Target="/ppt/tableStyles.xml" Id="R31e853c563d647e3" /><Relationship Type="http://schemas.openxmlformats.org/officeDocument/2006/relationships/slide" Target="/ppt/slides/slide1.xml" Id="Rd53a9339aa024b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38eb8a2ed43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54a2e5b834ac9" /><Relationship Type="http://schemas.openxmlformats.org/officeDocument/2006/relationships/notesMaster" Target="/ppt/notesMasters/notesMaster1.xml" Id="Rb2bb6f9e220f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讲稿建议（约 3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这一版先把“当前现状”分成两个等权问题。左边回答上游 TorchTitan 对 K3 做到了什么；右边回答 TorchTitanTurbo 自己已经有什么。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上游 TorchTitan：结论是支持缩小版 K3 的训练闭环，但不等于支持生产规模 full K3。当前可运行的是 kimi_k3_debugmodel：24 层、32 专家，CC12M-test 多模态数据，BF16、seq=256、10 steps，支持 eager、FSDP2 和 HSDP，并已有 forward/loss parity。93 层、896 专家的 full topology 虽然有模型配置，但 full recipe、TP/EP/CP/PP/compile、1M context、QAT 和全规模运行都没有闭环。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TorchTitanTurbo：它的定位是 TorchTitan 的 NPU 插件库，已有 converter、patch、NPU Attention/RMSNorm/RoPE/GMM/Permute 等算子，以及 Llama4、DeepSeek V3、Qwen3、Qwen3.5 适配代码。Qwen3.5 路径里能看到 TP、EP、CP、FSDP 代码。需要注意三点：第一，当前仓基线 18a2653 早于 K3 合入，仓内没有 K3 模块；第二，FSDPTurbo 已经接入，但只是 fully_shard strategy 的可选桥接，不是 TorchTitanTurbo 调完整 FSDPTurbo wrapper 再间接调用 MoonEP；第三，MoonEP、KCP 和 torchao-npu 都还没有训练级接入。仓里虽有通用 torchao Float8 TP 的引用，但不能等价为 K3 低精方案已经完成。现有测试主要是 converter/NPU op/FSDPTurbo bridge 的 mock 或单测，未看到 K3 NPU 端到端证据。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所以右侧任务保持四个工作包：P0 先建立 K3 NPU 基线；P1 将 MoonEP 做成可切换 EP backend；P2 为 KDA+MLA 建立 KCP/CP 组合；P3 通过 TorchAO 和 torchao-npu 复现 K3 的 SFT-QAT 语义。汇报时强调：接库只是手段，交付物必须是可以验收的训练能力。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https://github.com/pytorch/torchtitan/issues/4272</a:t>
            </a:r>
          </a:p>
          <a:p xmlns:a="http://schemas.openxmlformats.org/drawingml/2006/main">
            <a:r>
              <a:t>- https://github.com/pytorch/torchtitan/issues/4269</a:t>
            </a:r>
          </a:p>
          <a:p xmlns:a="http://schemas.openxmlformats.org/drawingml/2006/main">
            <a:r>
              <a:t>- https://github.com/pytorch/torchtitan/issues/3029</a:t>
            </a:r>
          </a:p>
          <a:p xmlns:a="http://schemas.openxmlformats.org/drawingml/2006/main">
            <a:r>
              <a:t>- https://github.com/pytorch/torchtitan/blob/9aadc36161c4ba64666c9d98fca0c2b90afa7ec8/torchtitan/models/kimi_k3/config_registry.py</a:t>
            </a:r>
          </a:p>
          <a:p xmlns:a="http://schemas.openxmlformats.org/drawingml/2006/main">
            <a:r>
              <a:t>- https://github.com/pytorch/torchtitan/blob/9aadc36161c4ba64666c9d98fca0c2b90afa7ec8/torchtitan/models/kimi_k3/parallelize.py</a:t>
            </a:r>
          </a:p>
          <a:p xmlns:a="http://schemas.openxmlformats.org/drawingml/2006/main">
            <a:r>
              <a:t>- https://github.com/pytorch/torchtitan/blob/9aadc36161c4ba64666c9d98fca0c2b90afa7ec8/torchtitan/models/kimi_k3/kda.py</a:t>
            </a:r>
          </a:p>
          <a:p xmlns:a="http://schemas.openxmlformats.org/drawingml/2006/main">
            <a:r>
              <a:t>- https://github.com/pytorch/torchtitan/blob/9aadc36161c4ba64666c9d98fca0c2b90afa7ec8/torchtitan/components/quantization/mx.py</a:t>
            </a:r>
          </a:p>
          <a:p xmlns:a="http://schemas.openxmlformats.org/drawingml/2006/main">
            <a:r>
              <a:t>- https://github.com/MoonshotAI/Kimi-K3</a:t>
            </a:r>
          </a:p>
          <a:p xmlns:a="http://schemas.openxmlformats.org/drawingml/2006/main">
            <a:r>
              <a:t>- https://torchtitan-npu.github.io/torchtitan-npu/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b3b938e5845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110981d404d17" /><Relationship Type="http://schemas.openxmlformats.org/officeDocument/2006/relationships/slideLayout" Target="/ppt/slideLayouts/slideLayout1.xml" Id="R0304de8798e7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04de8798e7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d2328ccaf431d" /><Relationship Type="http://schemas.openxmlformats.org/officeDocument/2006/relationships/notesSlide" Target="/ppt/notesSlides/notesSlide1.xml" Id="Rcb45eb1eb1b8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8F95C4B-0765-46FE-B264-AC69CA9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0012"/>
          </a:solidFill>
          <a:ln xmlns:a="http://schemas.openxmlformats.org/drawingml/2006/main" w="0">
            <a:solidFill>
              <a:srgbClr val="610012"/>
            </a:solidFill>
            <a:prstDash val="solid"/>
          </a:ln>
        </p:spPr>
      </p:sp>
      <p:sp>
        <p:nvSpPr>
          <p:cNvPr id="2" name="revised-title">
            <a:extLst xmlns:a="http://schemas.openxmlformats.org/drawingml/2006/main">
              <a:ext uri="{FF2B5EF4-FFF2-40B4-BE49-F238E27FC236}">
                <a16:creationId xmlns:a16="http://schemas.microsoft.com/office/drawing/2014/main" id="{18F425EB-C596-409A-B4E1-4DCE6A62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525" b="1">
                <a:solidFill>
                  <a:srgbClr val="6100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610012"/>
                </a:solidFill>
                <a:latin typeface="PingFang SC"/>
                <a:ea typeface="PingFang SC"/>
                <a:cs typeface="PingFang SC"/>
              </a:rPr>
              <a:t>K3 可训练基线已具备，NPU 规模能力仍待补齐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A807D-5887-430A-A915-ABBA06A0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723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B000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00020"/>
                </a:solidFill>
                <a:latin typeface="PingFang SC"/>
                <a:ea typeface="PingFang SC"/>
                <a:cs typeface="PingFang SC"/>
              </a:rPr>
              <a:t>TorchTitanTurbo · 竞争力现状与任务拆解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57D3F-EF21-42D1-91C2-76F6A52F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23900"/>
            <a:ext cx="4410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1">
                <a:solidFill>
                  <a:srgbClr val="684A5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84A50"/>
                </a:solidFill>
                <a:latin typeface="PingFang SC"/>
                <a:ea typeface="PingFang SC"/>
                <a:cs typeface="PingFang SC"/>
              </a:rPr>
              <a:t>截至 2026-08-28 · TorchTitan main@9aadc36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CC8F5-1DF6-46E2-A50A-71CA4CD2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28700"/>
            <a:ext cx="7429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B00020"/>
            </a:solidFill>
            <a:prstDash val="solid"/>
          </a:ln>
        </p:spPr>
        <p:txBody>
          <a:bodyPr xmlns:a="http://schemas.openxmlformats.org/drawingml/2006/main" lIns="152400" tIns="9525" rIns="1524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当前现状｜上游 K3 基线与 Turbo 支持现状等权呈现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6821C-476C-4CCD-8E3F-0BFACCAF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28700"/>
            <a:ext cx="400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0018"/>
          </a:solidFill>
          <a:ln xmlns:a="http://schemas.openxmlformats.org/drawingml/2006/main" w="0">
            <a:solidFill>
              <a:srgbClr val="7D0018"/>
            </a:solidFill>
            <a:prstDash val="solid"/>
          </a:ln>
        </p:spPr>
        <p:txBody>
          <a:bodyPr xmlns:a="http://schemas.openxmlformats.org/drawingml/2006/main" lIns="152400" tIns="9525" rIns="152400" bIns="9525" anchor="ctr">
            <a:normAutofit fontScale="7931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明确后的任务｜不是“接库”，而是交付训练能力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A8C87-B8A4-499A-A646-C4446A23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14475"/>
            <a:ext cx="3638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B00020"/>
            </a:solidFill>
            <a:prstDash val="solid"/>
          </a:ln>
        </p:spPr>
        <p:txBody>
          <a:bodyPr xmlns:a="http://schemas.openxmlformats.org/drawingml/2006/main" lIns="123825" tIns="9525" rIns="952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A｜TorchTitan / K3  上游基线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2B987-A8EF-47E4-B304-83E84980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14475"/>
            <a:ext cx="3638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0018"/>
          </a:solidFill>
          <a:ln xmlns:a="http://schemas.openxmlformats.org/drawingml/2006/main" w="0">
            <a:solidFill>
              <a:srgbClr val="7D0018"/>
            </a:solidFill>
            <a:prstDash val="solid"/>
          </a:ln>
        </p:spPr>
        <p:txBody>
          <a:bodyPr xmlns:a="http://schemas.openxmlformats.org/drawingml/2006/main" lIns="123825" tIns="9525" rIns="952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B｜TorchTitanTurbo  本仓现状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A3A35-A3A2-4A13-B0F9-76A88A0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B00020"/>
            </a:solidFill>
            <a:prstDash val="solid"/>
          </a:ln>
        </p:spPr>
        <p:txBody>
          <a:bodyPr xmlns:a="http://schemas.openxmlformats.org/drawingml/2006/main" wrap="square" lIns="123825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15" b="1">
                <a:solidFill>
                  <a:srgbClr val="B00020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B00020"/>
                </a:solidFill>
                <a:latin typeface="PingFang SC"/>
                <a:ea typeface="PingFang SC"/>
                <a:cs typeface="PingFang SC"/>
              </a:rPr>
              <a:t>能跑｜K3 DebugModel 训练闭环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215" b="1">
                <a:solidFill>
                  <a:srgbClr val="B00020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B00020"/>
                </a:solidFill>
                <a:latin typeface="PingFang SC"/>
                <a:ea typeface="PingFang SC"/>
                <a:cs typeface="PingFang SC"/>
              </a:rPr>
              <a:t>未闭环｜生产规模 full K3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F1EC5-DA43-479D-9807-8D65B71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8120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9525">
            <a:solidFill>
              <a:srgbClr val="7D0018"/>
            </a:solidFill>
            <a:prstDash val="solid"/>
          </a:ln>
        </p:spPr>
        <p:txBody>
          <a:bodyPr xmlns:a="http://schemas.openxmlformats.org/drawingml/2006/main" wrap="square" lIns="123825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1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已有｜NPU 插件、多模型与算子资产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21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缺少｜K3 + MoonEP/KCP/torchao-npu 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69CD7-3DC2-4948-980B-4808F7B6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527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训练入口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03714-0DA6-48D9-BB8C-AB3CD101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2D9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已有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94CE0-C941-40F1-9377-70656306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kimi_k3_debugmodel 可运行；full topology 仅有模型配置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AF71-C80F-4F4F-B1A2-E64EE183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527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仓基线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18394-A166-4473-9335-F59F28A0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偏旧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B2742-8A48-43E8-BD05-3CCFD8AA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Turbo@18a2653（06-05），早于 K3 合入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92120-6099-4EBE-905C-2D5E93B7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模型规模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4509A-D5D6-46FE-96C4-8175CC69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62275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两档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1D22F-DFD8-487F-9C7A-0A8BD41F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Debug：24 层 / 32 专家；Full：93 层 / 896 专家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39ECB-CF03-4B04-85BE-BC838B7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62275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模型资产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1D101-9B16-475B-A782-15955ABF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部分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FD70A-0D44-45EA-89FF-BE9D47D7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62275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Llama4 / DeepSeek V3 / Qwen3 / Qwen3.5；无 K3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06249-F214-4246-8860-68D16614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7185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数据训练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8B04A-9232-4461-83EA-36CEE40E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Debug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ED9DC-71CB-407F-BF2F-4038889B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CC12M-test 多模态｜BF16｜seq=256｜10 steps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88874B-D0E9-4046-8526-D9492207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7185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NPU 算子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F0B6A-4E87-4257-B7FA-734CDAE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2D9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已有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49AD1-5AF4-4252-9E1B-58B090DF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71850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Attention / RMSNorm / RoPE / GMM / Permute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710A3-E7A5-43EA-A776-8E827C1F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KDA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DAE13E-234E-4DA7-88D9-D59E84B7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GPU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A17581-F34C-4141-A40C-21A72FA9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81425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Attention Gym fused chunk_kda + causal_conv1d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2FF57A-D124-4AED-AA0B-F044AC2F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81425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并行能力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08F73-0A47-4B53-A34A-CB1C8CA9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1425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部分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28DACF-F950-411F-A678-4D09F34C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81425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Qwen3.5 有 TP/EP/CP/FSDP 路径；组合验证待补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178AAB-B5B2-44C7-87F9-E0104C8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910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并行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5C9C9D-CBBA-405C-BCA2-176AFA33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部分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532F6F-EF3D-4BDA-9BFE-6239876B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eager / FSDP2 / HSDP；仅 partial_dtensor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3EADAD-F8D6-47C5-A8FE-F9F504A9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910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FSDP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235E13-70E3-4A6A-9032-1AFD9482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桥接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75A1EF-7774-43F8-A556-B0E027A6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FSDPTurbo 仅接 fully_shard strategy；未调用完整 wrapper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2084F6-F051-4325-B920-7917C6EC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00575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验证证据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E9C5BD-4B04-4BBC-B91A-C27782DA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2D9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已有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DCC920-7FD6-4EAF-A9CB-5337A9E0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00575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HF forward + 单卡/FSDP/HSDP loss parity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B0EABF-5851-45CB-A52C-CDE5BC09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00575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MoonEP/KCP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84B916-949A-4A10-B46E-84F5674C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00575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缺失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BEFAA5-9194-420B-ACC9-AAC0CC4E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00575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仓内未发现可切换通信 backend 与训练闭环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716CBC-C092-47A5-AFAD-E4BAD183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1015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规模闭环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7F7E27-140E-43C0-821F-8C09DC87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缺失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4396F9-220C-4754-9D89-76F8DF1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TP/EP/CP/PP/compile、1M、QAT、全规模运行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7CA9B1-22B6-488A-A0DF-FCDB3B9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1015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09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低精验证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1F344B-A941-4DB5-8AE5-AD53679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0150"/>
            <a:ext cx="495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部分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BA0ACD-9CAD-47DC-BA94-AC6D9EFF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10150"/>
            <a:ext cx="2457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9AA6"/>
            </a:solidFill>
            <a:prstDash val="solid"/>
          </a:ln>
        </p:spPr>
        <p:txBody>
          <a:bodyPr xmlns:a="http://schemas.openxmlformats.org/drawingml/2006/main" wrap="square" lIns="66675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通用 torchao Float8 TP 引用；无 torchao-npu/K3 E2E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AFFF53-DB29-4E63-8590-08C1FCA9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14975"/>
            <a:ext cx="3638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00020"/>
            </a:solidFill>
            <a:prstDash val="solid"/>
          </a:ln>
        </p:spPr>
        <p:txBody>
          <a:bodyPr xmlns:a="http://schemas.openxmlformats.org/drawingml/2006/main" wrap="square" lIns="123825" tIns="66675" rIns="1047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15" b="1">
                <a:solidFill>
                  <a:srgbClr val="B00020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B00020"/>
                </a:solidFill>
                <a:latin typeface="PingFang SC"/>
                <a:ea typeface="PingFang SC"/>
                <a:cs typeface="PingFang SC"/>
              </a:rPr>
              <a:t>上游定位｜数值金标 + 最小训练起点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15" b="1">
                <a:solidFill>
                  <a:srgbClr val="B00020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B00020"/>
                </a:solidFill>
                <a:latin typeface="PingFang SC"/>
                <a:ea typeface="PingFang SC"/>
                <a:cs typeface="PingFang SC"/>
              </a:rPr>
              <a:t>结论：支持“缩小版 K3 可训练”，不等于支持生产规模 K3。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9BC469-D6F3-476C-8BAA-2C60AC6A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14975"/>
            <a:ext cx="3638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11430">
            <a:solidFill>
              <a:srgbClr val="7D0018"/>
            </a:solidFill>
            <a:prstDash val="solid"/>
          </a:ln>
        </p:spPr>
        <p:txBody>
          <a:bodyPr xmlns:a="http://schemas.openxmlformats.org/drawingml/2006/main" wrap="square" lIns="123825" tIns="66675" rIns="1047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1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Turbo 定位｜NPU 适配原型资产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1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结论：已具备可复用底座，但当前还不是 K3 NPU 训练方案。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CD62BD-27E7-4ADD-94A9-3EC43031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14475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001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36B908-6587-4BA0-9E0A-AF8036B0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14475"/>
            <a:ext cx="47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0018"/>
          </a:solidFill>
          <a:ln xmlns:a="http://schemas.openxmlformats.org/drawingml/2006/main" w="0">
            <a:solidFill>
              <a:srgbClr val="7D001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3D511F-753B-450C-9A3E-57EE3F78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90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1541B4-1003-4F81-BE05-B9C9099E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09725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K3 NPU 基线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F68AD1-CD45-4071-9EED-9328878C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14525"/>
            <a:ext cx="3276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85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8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18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三个特性共同前置条件｜冻结 K3 main；适配 NPU KDA/视觉依赖；建立单卡+8 卡 FSDP2 DebugModel 基线。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5F569F-7785-40F3-A346-91DD4B9E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A6"/>
          </a:solidFill>
          <a:ln xmlns:a="http://schemas.openxmlformats.org/drawingml/2006/main" w="0">
            <a:solidFill>
              <a:srgbClr val="D99AA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8DDE64-6778-400E-B6B2-2032FF35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241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60" b="1">
                <a:solidFill>
                  <a:srgbClr val="7D0018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7D0018"/>
                </a:solidFill>
                <a:latin typeface="PingFang SC"/>
                <a:ea typeface="PingFang SC"/>
                <a:cs typeface="PingFang SC"/>
              </a:rPr>
              <a:t>验收｜loss/grad parity + DCP resume + 无 CUDA-only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1877D7-B42A-4E7A-9522-2ADB8A5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289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0002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9EA0DD-910A-4867-817A-4254F78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28900"/>
            <a:ext cx="47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B0002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BBE940-A268-429A-85B9-82257F06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BB8328-5AC4-499F-9DB7-8C7E3F64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B000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00020"/>
                </a:solidFill>
                <a:latin typeface="PingFang SC"/>
                <a:ea typeface="PingFang SC"/>
                <a:cs typeface="PingFang SC"/>
              </a:rPr>
              <a:t>MoonEP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B82AE6-B82A-4CC5-9A10-A046F250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3276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68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8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18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可切换的 EP backend｜新增 ExpertParallelBackend(native/moonep)；覆盖 dispatch/GMM/combine/backward/overlap；不套完整 FSDPTurbo。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E816A9-A706-4EC1-991B-E78F88B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671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A6"/>
          </a:solidFill>
          <a:ln xmlns:a="http://schemas.openxmlformats.org/drawingml/2006/main" w="0">
            <a:solidFill>
              <a:srgbClr val="D99AA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20BA00-AD56-4CD3-A3C9-C25C107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052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60" b="1">
                <a:solidFill>
                  <a:srgbClr val="B00020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B00020"/>
                </a:solidFill>
                <a:latin typeface="PingFang SC"/>
                <a:ea typeface="PingFang SC"/>
                <a:cs typeface="PingFang SC"/>
              </a:rPr>
              <a:t>验收｜EP=2/8/多机｜parity + tokens/s + MFU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3A37F4-BC94-4D3A-9682-73A84368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D223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0E0A85-C717-42E0-8E7B-7460074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47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2235"/>
          </a:solidFill>
          <a:ln xmlns:a="http://schemas.openxmlformats.org/drawingml/2006/main" w="0">
            <a:solidFill>
              <a:srgbClr val="9D223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F90B80A-5812-49C8-A7F8-3CAEF25A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90F581-487C-497B-93AE-0FEE052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KCP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6BD37A9-163B-4299-98CF-59FF449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3276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8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8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18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KDA 与 MLA 的混合 CP｜同一 CP mesh：KDA=KCP，MLA=Ulysses；实现 conv halo、state-prefix、packed reset 与 backward。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550C45-F190-4EE3-8ED9-B3C0A810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A6"/>
          </a:solidFill>
          <a:ln xmlns:a="http://schemas.openxmlformats.org/drawingml/2006/main" w="0">
            <a:solidFill>
              <a:srgbClr val="D99AA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6E59BC-1313-4EBB-A169-76BBDF6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60" b="1">
                <a:solidFill>
                  <a:srgbClr val="9D2235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9D2235"/>
                </a:solidFill>
                <a:latin typeface="PingFang SC"/>
                <a:ea typeface="PingFang SC"/>
                <a:cs typeface="PingFang SC"/>
              </a:rPr>
              <a:t>验收｜CP=2/4；8K→1M；loss/grad/显存缩放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1AB7AD-92FB-4E6F-8F17-76B0FE81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911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E3A5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FBD398-014C-4C6C-BAE7-2018ADDC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91100"/>
            <a:ext cx="47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3A52"/>
          </a:solidFill>
          <a:ln xmlns:a="http://schemas.openxmlformats.org/drawingml/2006/main" w="0">
            <a:solidFill>
              <a:srgbClr val="DE3A5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9A3A678-381D-4D26-B4AA-96A4F6E7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DEDB5EA-34B7-494B-9A1E-3810B42A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86350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DE3A5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E3A52"/>
                </a:solidFill>
                <a:latin typeface="PingFang SC"/>
                <a:ea typeface="PingFang SC"/>
                <a:cs typeface="PingFang SC"/>
              </a:rPr>
              <a:t>TorchAO / torchao-npu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46C0E16-CF45-4DD8-9635-F671C84A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91150"/>
            <a:ext cx="3276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81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85" b="0">
                <a:solidFill>
                  <a:srgbClr val="2D1116"/>
                </a:solidFill>
                <a:latin typeface="PingFang SC"/>
                <a:ea typeface="PingFang SC"/>
                <a:cs typeface="PingFang SC"/>
              </a:defRPr>
            </a:pPr>
            <a:r>
              <a:rPr sz="1185" b="0">
                <a:solidFill>
                  <a:srgbClr val="2D1116"/>
                </a:solidFill>
                <a:latin typeface="PingFang SC"/>
                <a:ea typeface="PingFang SC"/>
                <a:cs typeface="PingFang SC"/>
              </a:rPr>
              <a:t>复现 K3 的 SFT-QAT 语义｜BF16 master + MXFP4 fake quant + MXFP8 GMM；TorchAO 管原语，Turbo 管 recipe，torchao-npu 管 kernel；完成 HF packed ↔ DCP。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B6E45E-6292-4855-84E8-B46E6F3A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293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A6"/>
          </a:solidFill>
          <a:ln xmlns:a="http://schemas.openxmlformats.org/drawingml/2006/main" w="0">
            <a:solidFill>
              <a:srgbClr val="D99AA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0B2B9CD-6F45-4057-BF53-B0610E55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674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60" b="1">
                <a:solidFill>
                  <a:srgbClr val="DE3A52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DE3A52"/>
                </a:solidFill>
                <a:latin typeface="PingFang SC"/>
                <a:ea typeface="PingFang SC"/>
                <a:cs typeface="PingFang SC"/>
              </a:rPr>
              <a:t>验收｜200-step QAT｜bit-exact checkpoint｜FSDP/EP resume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6C95294-B95B-4C3F-8E6A-8C33B247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72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0012"/>
          </a:solidFill>
          <a:ln xmlns:a="http://schemas.openxmlformats.org/drawingml/2006/main" w="0">
            <a:solidFill>
              <a:srgbClr val="61001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19685FF-4433-4DFD-AE3B-2278C31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198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2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最终目标｜DebugModel → full topology，逐级给出数值、长稳、显存与吞吐证据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CE2625-E5E4-4BD6-BE91-569F498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91300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88" b="0">
                <a:solidFill>
                  <a:srgbClr val="8A687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A6870"/>
                </a:solidFill>
                <a:latin typeface="PingFang SC"/>
                <a:ea typeface="PingFang SC"/>
                <a:cs typeface="PingFang SC"/>
              </a:rPr>
              <a:t>Sources: TorchTitan K3 config/parallelize · K3 tracker #4272 · local Turbo/FSDPTurbo code review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DA5277-3B32-451B-BBC1-827F737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913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788" b="0">
                <a:solidFill>
                  <a:srgbClr val="8A687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8A6870"/>
                </a:solidFill>
                <a:latin typeface="PingFang SC"/>
                <a:ea typeface="PingFang SC"/>
                <a:cs typeface="PingFang SC"/>
              </a:rPr>
              <a:t>状态基于代码证据；硬件长稳需后续实测</a:t>
            </a:r>
          </a:p>
        </p:txBody>
      </p:sp>
    </p:spTree>
    <p:extLst>
      <p:ext uri="{BB962C8B-B14F-4D97-AF65-F5344CB8AC3E}">
        <p14:creationId xmlns:p14="http://schemas.microsoft.com/office/powerpoint/2010/main" val="1274211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2026-08-28T03:46:46.0230000Z</dcterms:created>
  <dcterms:modified xsi:type="dcterms:W3CDTF">2026-08-28T03:46:46.0230000Z</dcterms:modified>
</coreProperties>
</file>